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63" r:id="rId3"/>
    <p:sldId id="257" r:id="rId4"/>
    <p:sldId id="364" r:id="rId5"/>
    <p:sldId id="365" r:id="rId6"/>
    <p:sldId id="366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80" r:id="rId16"/>
    <p:sldId id="381" r:id="rId17"/>
    <p:sldId id="382" r:id="rId18"/>
    <p:sldId id="383" r:id="rId19"/>
    <p:sldId id="384" r:id="rId20"/>
    <p:sldId id="385" r:id="rId21"/>
    <p:sldId id="379" r:id="rId22"/>
  </p:sldIdLst>
  <p:sldSz cx="12192000" cy="6858000"/>
  <p:notesSz cx="6858000" cy="9144000"/>
  <p:embeddedFontLst>
    <p:embeddedFont>
      <p:font typeface="Tajawal" panose="00000500000000000000" pitchFamily="2" charset="-78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0" roundtripDataSignature="AMtx7mj3vEGIWQb34tz3TLuBpMD2Oesb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5830"/>
    <a:srgbClr val="2E9DDA"/>
    <a:srgbClr val="541DC3"/>
    <a:srgbClr val="29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59869" autoAdjust="0"/>
  </p:normalViewPr>
  <p:slideViewPr>
    <p:cSldViewPr snapToGrid="0">
      <p:cViewPr varScale="1">
        <p:scale>
          <a:sx n="49" d="100"/>
          <a:sy n="49" d="100"/>
        </p:scale>
        <p:origin x="1070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-461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10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0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https://vimeo.com/reviews/090b4e08-f081-41b5-8784-8cb5463c3686/videos/1112671790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3FC12DD-0E66-8084-BE20-456027F1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1E5698A-4FF2-A1ED-BC85-DC3E84E79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C2DD888-3892-3160-C489-2168AB2B3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اظهر ايقونة ولد والة حاسبة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Hello, my little mathematician! 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201BEC5-CE67-7F7F-F9A4-2FFA1E634B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151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صورة يد تعد من 1 ل 10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Arabic adventure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Today, we’re going to learn how to **count in Arabic**!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C5EB597-9C2E-C978-B20D-A5A013E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5A743DB-50DE-92F5-19BA-C8E3A901E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CDC26BF-1C4A-6F93-A027-E7DB437E6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Are you ready to count from 1 to 10 with me?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Let’s go!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5FCF693-B94D-A0FF-4FEE-49688E8373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2031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5284482-FD09-C11D-C453-0A4339E1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2BBCBC1-C589-26D7-8147-E9BC8902E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5385764-0F6A-AB76-9D89-05A2D071B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**1**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Wāḥid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واحِد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6CFEEF8-CC00-DCD6-0EAF-257C07D7AC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377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AC0BA56-B26D-57B2-5DEB-F470F5EB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02E1799-434F-0343-ED48-0D9AD3470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677BF2B-8545-FB0B-8AE7-8A898AE26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Arabic Speaker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Say it: **Waa-hid**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4821C01-5C9F-F4C6-8D15-E9E9604B4A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510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DFE83E2-3A03-47D7-D582-397BAABE6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23D3FA9-90EF-E8D9-E703-E9BFD1A81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673D1D7-05B1-B5CB-0E94-4AF053AC1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**2**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Ithnān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اِثْنَان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Say it: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Ith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-naan**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63A575C-00E7-D1C0-A04E-0CA923771F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248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F11382D-49A5-35B5-5D10-3EC02ADAF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C160A30-4D43-C5EC-D052-8307F7D6E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D541182-7AE9-2970-087D-6AF3B93C2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**3**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Thalātha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ثَلَاثَة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Try this: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Tha-laa-tha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B47E863-2BF6-4893-5813-E02CB4EB23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467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6751862-B322-61C4-EBBD-6948F3A0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5CD79F8-7AE0-C5CD-460C-E23C41367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0CE105F-B202-69EB-DF4E-E96949ED2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Great!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9237910-988D-16CB-66BF-394DC75F93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910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18B56DC-DFFA-7603-EFBF-EB2BAE50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236F196-DFD3-F049-03C5-AA34C39A45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141EC28-4A44-69D2-7F01-C5022C971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**4**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Arba‘a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أَرْبَعَة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Say: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ba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-a**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613B7E9-37DD-8CA1-A6FE-0D6C5E8081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5333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985E47F-20BC-DCE8-718B-B738FE88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AB346FB-67F2-5333-3273-360C99E7A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8D07EC8-8A2C-0749-D0C8-38A8927CC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**5** = **Khamsa**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خَمْسَة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Repeat after me: **Kham-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Perfect!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A4CA24E-EE18-8793-BDAA-857C36299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8278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CA0B449C-FCAB-1BC6-5EA7-2FCB17B9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BCB931F-58EA-1AEC-F926-786CA2DF1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C93A857-FB3B-0169-C6B9-FB6B9D7A7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**6** = **Sitta**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سِتَّة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Say: **Sit-ta**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You’re doing awesome!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24C6F77-1B51-D305-5372-3F2D56509A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978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17CBF73-837B-48C0-F9FB-C17AAF13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8613778-6020-3100-8D43-9DFB98C90C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B70BA26-C825-1303-6676-38F9984CF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-------------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**7**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Sab‘a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سَبْعَة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Repeat: **Sab-a**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1E1BB5A-A6ED-C121-521F-789540A482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5430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9AAF9B8-BB2D-69BE-F1E8-D631A90D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DE22A7B-D3E1-3C56-7717-9542BF86C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DAE9D62-D095-0AFE-64B0-88122A071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Good morning</a:t>
            </a:r>
            <a:endParaRPr lang="ar-EG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Goodbye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Getting easier, right?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01D277B-DFD5-B942-DA97-D0A03E19E4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6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29AD627-547D-428D-13FD-191E3DA4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A3AC28D-44EF-0800-8B9B-1D0C1C935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E42C1F4-568D-DD12-8453-5A0FAD4A8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**8**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Thamāniya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ثَمَانِيَة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Say it slow: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-maa-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ni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Amazing!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33E604C-943D-A6F6-E1E1-4792C7FB31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7638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924B837-0E0D-E1B0-03B0-5F07A13E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4E1255D-F69B-B152-F913-70FDCBB83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8CB0C6B-12F7-0FC4-5EF0-FA79EF0E7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**9** = 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Tis‘a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تِسْعَة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Repeat: **Tis-a**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You rock!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CA8738F-23E9-8C9A-6623-2D4D8B8538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4650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0A320D5-5E42-9B89-F717-A6588C80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416F319-149E-5C4F-8B61-A740C6BC2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28DAF74-E35D-411D-7138-5D3EB5169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**10** = **‘Ashara** (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عَشَرَة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)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Last one! Say: **A-sha-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54841BB-0E2F-EFB7-00F9-6D20C3F78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277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A9FA903-4351-6A12-1079-852AE77B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70359DB-8FB2-2456-38C8-2A27C8D41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5B70877-65BC-ADF1-3B5A-6E28AD533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YOU DID IT!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Let’s count them all together now, fast! Ready?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3D7DA4B-4C7D-B7D4-296C-73AAAF9348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772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3AD74FF-5257-9F15-BD09-E9D1A601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7E05CFC-8F1E-1198-69B5-2E836E25E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9701A74-C311-9C5A-23C8-F3960E5C8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اظهر شكل مثل المرفق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lang="ar-EG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**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Wāḥid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Ithnān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Thalātha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Arba‘a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Khamsa – Sitta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Sab‘a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Thamāniya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Tis‘a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– ‘Ashara!**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2FF1CFA-BB18-6F78-F300-33F835083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1621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0FAD9B1-4439-1C46-73E3-F8920F2F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3E0B86E-CA6B-C812-2E2E-4BB9EDF87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49AEA72-7A6D-2DB4-293C-5CF337401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Woohoo! You just counted from 1 to 10 in Arabic! 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Next time, we’ll learn the **colors** around us in Arabic — it’s going to be fun and colorful! 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43D96A7-9C12-D8FE-FF7B-F5ED985910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8158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7BC01D0-8B32-5D24-86D0-6245C811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13447EC-4133-0C20-C25F-BF77C7955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F85755F-F012-667C-48DD-8A2A8C591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Assets:</a:t>
            </a: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graphic designer: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Instructions to video editor:</a:t>
            </a:r>
            <a:endParaRPr lang="en-US" dirty="0"/>
          </a:p>
          <a:p>
            <a:pPr marL="0" lvl="0" indent="0" algn="l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dirty="0"/>
              <a:t>بالتزامن مع "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Ma’a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as-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salama</a:t>
            </a:r>
            <a:r>
              <a:rPr lang="ar-EG" dirty="0"/>
              <a:t>" اظهر كلمة مع السلامة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ar-E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Sound effects :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مؤثر صوت ظهور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On screen text: </a:t>
            </a:r>
            <a:r>
              <a:rPr lang="ar-EG" b="1" dirty="0">
                <a:latin typeface="Calibri"/>
                <a:ea typeface="Calibri"/>
                <a:cs typeface="Calibri"/>
                <a:sym typeface="Calibri"/>
              </a:rPr>
              <a:t>مع السلامة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Narration:</a:t>
            </a:r>
          </a:p>
          <a:p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See you there! 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ar-EG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Or as we say in Arabic: “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Ma’a</a:t>
            </a:r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as-</a:t>
            </a:r>
            <a:r>
              <a:rPr lang="en-US" sz="1200" b="1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salama</a:t>
            </a:r>
            <a:r>
              <a:rPr lang="ar-SA" sz="1200" b="1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="1" i="1" dirty="0"/>
              <a:t> </a:t>
            </a: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5C17A9C-3E85-E727-E11A-E9C5BDD10C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06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ajaw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ajaw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A6AB"/>
              </a:buClr>
              <a:buSzPts val="2400"/>
              <a:buNone/>
              <a:defRPr sz="2400">
                <a:solidFill>
                  <a:srgbClr val="88A6AB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2000"/>
              <a:buNone/>
              <a:defRPr sz="2000">
                <a:solidFill>
                  <a:srgbClr val="88A6AB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800"/>
              <a:buNone/>
              <a:defRPr sz="1800">
                <a:solidFill>
                  <a:srgbClr val="88A6AB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A6AB"/>
              </a:buClr>
              <a:buSzPts val="1600"/>
              <a:buNone/>
              <a:defRPr sz="1600">
                <a:solidFill>
                  <a:srgbClr val="88A6AB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jaw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jaw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BFB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ajawal"/>
              <a:buNone/>
              <a:defRPr sz="44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9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3" name="Google Shape;13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4" name="Google Shape;14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A6AB"/>
                </a:solidFill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333765" y="1277918"/>
            <a:ext cx="11613592" cy="400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8000" dirty="0">
                <a:solidFill>
                  <a:srgbClr val="C00000"/>
                </a:solidFill>
                <a:latin typeface="Tajawal"/>
                <a:cs typeface="Tajawal"/>
                <a:sym typeface="Tajawal"/>
              </a:rPr>
              <a:t>اللغة العربية لغير الناطقين بها</a:t>
            </a:r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8000" b="0" i="0" u="none" strike="noStrike" cap="none" dirty="0">
                <a:solidFill>
                  <a:srgbClr val="C00000"/>
                </a:solidFill>
                <a:latin typeface="Tajawal"/>
                <a:ea typeface="Tajawal"/>
                <a:cs typeface="Tajawal"/>
                <a:sym typeface="Tajawal"/>
              </a:rPr>
              <a:t>البرومو: فيديو #</a:t>
            </a:r>
            <a:r>
              <a:rPr lang="en-US" sz="8000" b="0" i="0" u="none" strike="noStrike" cap="none" dirty="0">
                <a:solidFill>
                  <a:srgbClr val="C00000"/>
                </a:solidFill>
                <a:latin typeface="Tajawal"/>
                <a:ea typeface="Tajawal"/>
                <a:cs typeface="Tajawal"/>
                <a:sym typeface="Tajawal"/>
              </a:rPr>
              <a:t>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B343C625-A01B-20B5-BD28-7AD7BECC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C755D4B8-3283-4E02-1DAC-C2B809A9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D3BBA4-6C0F-6978-D285-70F2244E1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8" name="Picture 7" descr="A cartoon of a child smiling and holding a backpack&#10;&#10;AI-generated content may be incorrect.">
            <a:extLst>
              <a:ext uri="{FF2B5EF4-FFF2-40B4-BE49-F238E27FC236}">
                <a16:creationId xmlns:a16="http://schemas.microsoft.com/office/drawing/2014/main" id="{25188672-F52D-7DC4-6EE2-AC7F18867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063" y="1560786"/>
            <a:ext cx="2775095" cy="29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7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00E6EAFF-AAE2-4E65-22E3-85EE457B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AD02C0-7511-9710-EFC4-81E7DA102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7" name="Picture 6" descr="A pair of hands with numbers&#10;&#10;AI-generated content may be incorrect.">
            <a:extLst>
              <a:ext uri="{FF2B5EF4-FFF2-40B4-BE49-F238E27FC236}">
                <a16:creationId xmlns:a16="http://schemas.microsoft.com/office/drawing/2014/main" id="{A86CE1FA-45F4-677F-3491-A9278B1D5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275" y="1962197"/>
            <a:ext cx="2699525" cy="2175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E125E88-0D57-A9D1-7E8B-4997A081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8FDA4ED8-CAC6-AAE6-A21D-AAF69EF7D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CC6751-078C-1D11-4D67-49F1792EE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7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AE77B9B-2ECD-A41B-B66C-FE914977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04F1BA63-3636-055A-46D6-B94B8FF00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4F6DFE-E856-D393-691F-7A8B56B0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5" name="Picture 4" descr="A white sign with blue text and blue bow&#10;&#10;AI-generated content may be incorrect.">
            <a:extLst>
              <a:ext uri="{FF2B5EF4-FFF2-40B4-BE49-F238E27FC236}">
                <a16:creationId xmlns:a16="http://schemas.microsoft.com/office/drawing/2014/main" id="{F73989FD-FC6C-EDF0-B8D1-5A273F15D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92" y="1498769"/>
            <a:ext cx="3761905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4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D54EDD9-3B06-45CF-1665-964EFC0C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A9A65272-0E07-F7A1-74D7-9E8125AC6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D0B7AA-ED2C-D5B5-E00C-70F94DB56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2" name="Picture 1" descr="A white sign with blue text and blue bow">
            <a:extLst>
              <a:ext uri="{FF2B5EF4-FFF2-40B4-BE49-F238E27FC236}">
                <a16:creationId xmlns:a16="http://schemas.microsoft.com/office/drawing/2014/main" id="{D2C731B1-5EF3-8E0E-DF4B-543BCC5CD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92" y="1498769"/>
            <a:ext cx="3761905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3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46207B2-93FF-1D13-1E3E-D421FAF6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45CFE487-387E-3989-36E4-F0AC0514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8C81DA-2114-2F7A-956E-A61F3AFF0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5" name="Picture 4" descr="A white sign with blue and white text&#10;&#10;AI-generated content may be incorrect.">
            <a:extLst>
              <a:ext uri="{FF2B5EF4-FFF2-40B4-BE49-F238E27FC236}">
                <a16:creationId xmlns:a16="http://schemas.microsoft.com/office/drawing/2014/main" id="{0725B8F1-6CCB-AD7E-32E1-BECEA6906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035" y="1413119"/>
            <a:ext cx="3638095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5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7EBB118-E45C-C7DE-CE14-31579641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A9B27135-5176-F2EF-01C3-3AA299AE4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2C8DF3-A7D2-58D9-9679-64AA6152A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5" name="Picture 4" descr="A sign with blue text and a bow&#10;&#10;AI-generated content may be incorrect.">
            <a:extLst>
              <a:ext uri="{FF2B5EF4-FFF2-40B4-BE49-F238E27FC236}">
                <a16:creationId xmlns:a16="http://schemas.microsoft.com/office/drawing/2014/main" id="{EAD56F47-EDDB-2813-84E7-574B91BA8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92" y="1459355"/>
            <a:ext cx="3676190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4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CC52B0E-A8D6-A4C2-84F9-655BD409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3770F517-8350-A938-9BF8-6326D7661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B104A8-5A49-01D4-EEF6-E45733DC0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62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761596D-0269-0275-3697-89E1F725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EBC54E63-9AF9-8B15-A89E-2AFB4A947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1B4FD0-7ABF-F5BB-7118-98689B37F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white sign with blue text and a bow&#10;&#10;AI-generated content may be incorrect.">
            <a:extLst>
              <a:ext uri="{FF2B5EF4-FFF2-40B4-BE49-F238E27FC236}">
                <a16:creationId xmlns:a16="http://schemas.microsoft.com/office/drawing/2014/main" id="{004E9055-6C7B-46C5-D54F-33253B467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75" y="1696899"/>
            <a:ext cx="3457143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3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EE7CED9-8735-B232-6E8B-074FD918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DF081267-291A-817E-B563-55360E52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B1E290-CCFA-EE0E-37CA-95C02171C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sign with text and blue text">
            <a:extLst>
              <a:ext uri="{FF2B5EF4-FFF2-40B4-BE49-F238E27FC236}">
                <a16:creationId xmlns:a16="http://schemas.microsoft.com/office/drawing/2014/main" id="{BB7A2B18-6F0F-C78E-A2DC-C09C30867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2" y="1498769"/>
            <a:ext cx="3805252" cy="23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14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5B692FB-3CB3-5CEC-090E-21DD81F2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E9AA976F-07E9-7877-787B-D3E52A7B2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7C9425-AA39-1F2E-BB79-1EB179F01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blue and white sign with a bow&#10;&#10;AI-generated content may be incorrect.">
            <a:extLst>
              <a:ext uri="{FF2B5EF4-FFF2-40B4-BE49-F238E27FC236}">
                <a16:creationId xmlns:a16="http://schemas.microsoft.com/office/drawing/2014/main" id="{8C0E18B8-1BB8-04D0-B3C9-631D68B6F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76" y="1633837"/>
            <a:ext cx="3409524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84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BEA3F51-F922-44CD-1A2D-7715893C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87FA0E34-21F6-B621-BA16-3CDC0E33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83B03A-D20A-19C9-5B1F-D6B10ADA1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5" name="Picture 4" descr="A white sign with blue text and a blue bow">
            <a:extLst>
              <a:ext uri="{FF2B5EF4-FFF2-40B4-BE49-F238E27FC236}">
                <a16:creationId xmlns:a16="http://schemas.microsoft.com/office/drawing/2014/main" id="{0B8C8291-6163-8E07-F642-739157F7C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123" y="1602306"/>
            <a:ext cx="3542857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43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3E62976-FF93-9463-CF76-EAEBF42E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D98E4044-037E-3063-7B2D-C58F1E33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5F55FD-DDD3-3716-A9A7-79603F831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79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1BC09AA-DCB0-20C8-6C1F-3F5E8B50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93C1ABAF-8471-B012-4C63-E1F83196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019858-9CEE-020C-0550-B060334E4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sign with blue text and a bow&#10;&#10;AI-generated content may be incorrect.">
            <a:extLst>
              <a:ext uri="{FF2B5EF4-FFF2-40B4-BE49-F238E27FC236}">
                <a16:creationId xmlns:a16="http://schemas.microsoft.com/office/drawing/2014/main" id="{75BE1D5F-04D5-558B-5089-04AA22C67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3" y="1681133"/>
            <a:ext cx="3666667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5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5B49E66-9BA8-6788-0C29-550B0197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AA505A48-8832-C6F2-068A-85CC27DD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A044D1-BBBD-94DC-B74B-CDD197223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white sign with blue text and blue bow&#10;&#10;AI-generated content may be incorrect.">
            <a:extLst>
              <a:ext uri="{FF2B5EF4-FFF2-40B4-BE49-F238E27FC236}">
                <a16:creationId xmlns:a16="http://schemas.microsoft.com/office/drawing/2014/main" id="{290D7318-EB59-F3D0-872E-4407B0B93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97" y="1744195"/>
            <a:ext cx="3466667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7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533B22C-539F-8C89-92FD-56CA7944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FC57205F-DA8E-E3FF-4DB7-FF5F2EF2D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B26CE5-4743-02E8-5DE9-384F40513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white and blue sign with blue text and a bow&#10;&#10;AI-generated content may be incorrect.">
            <a:extLst>
              <a:ext uri="{FF2B5EF4-FFF2-40B4-BE49-F238E27FC236}">
                <a16:creationId xmlns:a16="http://schemas.microsoft.com/office/drawing/2014/main" id="{267055E2-A0BA-9587-C1BD-EC30D93AF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92" y="1602306"/>
            <a:ext cx="3761905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27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E671FA1-FC3F-2A22-91C8-0BA35D52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D88002C7-ED4A-0AD5-A2E2-D3352A9B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DEF858-8E08-01BB-7F43-0A558EEC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87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B71E6F32-F58D-ADB0-3628-0EDBAC3E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9496DCA0-3832-E78A-55E1-F4107F69C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E4509E-97CE-5277-3E89-3E9BA46DB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6" name="Picture 5" descr="A blue numbers on a black background">
            <a:extLst>
              <a:ext uri="{FF2B5EF4-FFF2-40B4-BE49-F238E27FC236}">
                <a16:creationId xmlns:a16="http://schemas.microsoft.com/office/drawing/2014/main" id="{6CE645D0-AACC-4869-9DA2-9EA21CA29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68" y="2049517"/>
            <a:ext cx="3767239" cy="19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59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12BCDAF-423C-D2E1-39BF-C118B548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9AA3BDCB-F4D1-7A36-EE63-986BD5A1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1AB5B5-CD84-05D9-AF26-FD3EDECA5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24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B84E15D-7906-5FC1-6C90-94610C2A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n owl wearing glasses&#10;&#10;AI-generated content may be incorrect.">
            <a:extLst>
              <a:ext uri="{FF2B5EF4-FFF2-40B4-BE49-F238E27FC236}">
                <a16:creationId xmlns:a16="http://schemas.microsoft.com/office/drawing/2014/main" id="{911B661C-21A3-F7D9-49B8-6D974E569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94" y="209126"/>
            <a:ext cx="705798" cy="6895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18936-C820-7B17-BB18-226F22A4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18" y="809259"/>
            <a:ext cx="10659963" cy="5239481"/>
          </a:xfrm>
          <a:prstGeom prst="rect">
            <a:avLst/>
          </a:prstGeom>
        </p:spPr>
      </p:pic>
      <p:pic>
        <p:nvPicPr>
          <p:cNvPr id="9" name="Picture 8" descr="A blue and yellow logo&#10;&#10;AI-generated content may be incorrect.">
            <a:extLst>
              <a:ext uri="{FF2B5EF4-FFF2-40B4-BE49-F238E27FC236}">
                <a16:creationId xmlns:a16="http://schemas.microsoft.com/office/drawing/2014/main" id="{F97FE01A-B736-3764-BDC2-EE2845D87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92" y="2514713"/>
            <a:ext cx="3495238" cy="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96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TC">
      <a:dk1>
        <a:srgbClr val="007681"/>
      </a:dk1>
      <a:lt1>
        <a:srgbClr val="FFFFFF"/>
      </a:lt1>
      <a:dk2>
        <a:srgbClr val="007681"/>
      </a:dk2>
      <a:lt2>
        <a:srgbClr val="FFFFFF"/>
      </a:lt2>
      <a:accent1>
        <a:srgbClr val="007681"/>
      </a:accent1>
      <a:accent2>
        <a:srgbClr val="C1A01F"/>
      </a:accent2>
      <a:accent3>
        <a:srgbClr val="007681"/>
      </a:accent3>
      <a:accent4>
        <a:srgbClr val="C1A01F"/>
      </a:accent4>
      <a:accent5>
        <a:srgbClr val="007681"/>
      </a:accent5>
      <a:accent6>
        <a:srgbClr val="C1A01F"/>
      </a:accent6>
      <a:hlink>
        <a:srgbClr val="007681"/>
      </a:hlink>
      <a:folHlink>
        <a:srgbClr val="C1A01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956</Words>
  <Application>Microsoft Office PowerPoint</Application>
  <PresentationFormat>Widescreen</PresentationFormat>
  <Paragraphs>462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Tajawal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Amira Yasser</dc:creator>
  <cp:lastModifiedBy>ahmadrefaatalnasr@gmail.com</cp:lastModifiedBy>
  <cp:revision>324</cp:revision>
  <dcterms:created xsi:type="dcterms:W3CDTF">2022-08-15T08:39:52Z</dcterms:created>
  <dcterms:modified xsi:type="dcterms:W3CDTF">2025-11-22T00:53:44Z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51D055B5-2ED2-46AE-BA6C-5BC81013A415</vt:lpwstr>
  </property>
  <property fmtid="{D5CDD505-2E9C-101B-9397-08002B2CF9AE}" pid="3" name="ArticulatePath">
    <vt:lpwstr>Chapter 1</vt:lpwstr>
  </property>
</Properties>
</file>